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9" r:id="rId5"/>
    <p:sldId id="260" r:id="rId6"/>
    <p:sldId id="261" r:id="rId7"/>
    <p:sldId id="269" r:id="rId8"/>
    <p:sldId id="270" r:id="rId9"/>
    <p:sldId id="271" r:id="rId10"/>
    <p:sldId id="263" r:id="rId11"/>
    <p:sldId id="264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>
        <p:scale>
          <a:sx n="102" d="100"/>
          <a:sy n="102" d="100"/>
        </p:scale>
        <p:origin x="95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C7559-0C3E-3A41-9FF2-B001275EB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B50799-9937-E246-9DE5-70F354FD7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79AA2D-E55C-DA48-B027-AF273095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92FB40-DE7E-DC49-9790-39E3A5FF5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3932A4-408F-4D47-BF53-4E43603A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1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29F13-F8E4-6044-9FF2-626BC23C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4C6CFD-0588-7A4E-97ED-E212F17C0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4A037B-A79A-D64E-B747-3BE75680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BF09F4-457D-C64E-AC42-60822467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C2BBAA-237D-264D-90FE-26100F16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61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698EE-49CD-F84E-B2D6-E45D6D62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FB91B6-5B6B-7F48-AD7B-433F8EB92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AE1B75-B4FC-7643-B386-93DB26CC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883F38-FF27-E54F-9020-27847FBA5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8DB0DA-67A1-D844-A760-C98C404F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87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1E640-F35B-DA4C-8603-E81D96DD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E5C3C3-4A60-E34F-9189-FCBFBB62A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9FA30E-90B7-1C49-860B-74F8B1E26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2E7187-A787-7645-B61B-C32120E2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B4EA2E-BEE8-4340-8E52-817FB020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6DBC98-A63F-4942-9812-E09B1BD2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54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49AC3-E7E0-1046-A0C4-A42DAD7C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BC2FA0-8150-2D40-B17B-7ED970D28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AB2A62-FD9F-A948-A47D-3F1F301BC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545B1E-1636-6843-AA7F-CA43DFEA6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485FF09-58D0-F945-B03F-D16E06E35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6F34850-D039-2344-ABAF-46DF77AE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B43E65-51E2-D94D-A8ED-05E389F5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F95B2-E770-4E43-8501-9E3CBBB7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72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AA6D7-5322-134B-A1C8-DADCE280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F2CAA76-4E65-CD49-8A3D-CB864E29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1C4B4C-3E97-5348-8D21-577B36F2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90180C-617D-1F47-954B-7CFB7B35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55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79943E-E997-0D4E-B5A7-DC20A003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07FA6B-13B3-394E-8110-F3C3F861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9D8818-88FD-A342-A035-4D9362CE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37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273C1-BCF9-9742-A351-517A1EA3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CDB2DA-F563-ED44-AF04-AF717B63E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834591-F952-264C-AD3C-C00D0343F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7EA3CA-89D5-EE40-BC3A-C3F12329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D983F7-10D4-214B-8D3A-CD4CAB58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9A43E5-A219-5B45-BBEE-1C23A059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99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1C519-477B-294B-A01E-00AD3710B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1BC4E6-AB49-0D42-AAEA-0DC835C7D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B6FAB4-23C0-724A-B538-5B33B7136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CDE246-A095-7E48-BD7F-15FBE6ED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733C2D-CA9E-AD40-989C-4FB8B18D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6A7806-D7AB-454F-9A9C-41C64496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70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F28E1-1193-C744-9C3C-D7A0A9D4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FFB198-0589-9040-BCA3-AB1530829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D48943-E74D-CD46-922C-7C8F5BC5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0CDF3-A4CF-F746-A6D9-76A2ABD7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BB16D2-798A-9445-81D8-659CBB5F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82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3BEA1A9-A2B9-744E-BD64-670B8C1B2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11FF46-793F-1A49-9793-11CD784AE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972B52-9769-3541-9F1B-1A3D4F2A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727E18-A508-C845-8322-BF371596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C7BCFC-642E-D948-941D-8DBD256C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583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C4C3E-84C2-E24C-A173-7058D3D0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3EB57C-62E9-5049-B741-AA809AD18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DD8E59-6772-0848-A120-911C1C905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54090-B51D-3541-A8D6-7264A02774B6}" type="datetimeFigureOut">
              <a:rPr lang="ru-RU" smtClean="0"/>
              <a:t>04.09.2021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0D97A9-4426-1949-B0F1-8E93D7A91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A5F527-EB09-5B4B-96C6-F99C752C7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ED878-D8A8-0844-B10B-B70C966D48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88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4.emf"/><Relationship Id="rId11" Type="http://schemas.openxmlformats.org/officeDocument/2006/relationships/image" Target="../media/image31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A79F0-7E04-054B-84AF-13449E962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615" y="656767"/>
            <a:ext cx="12191999" cy="1856912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rgbClr val="0823A1"/>
                </a:solidFill>
                <a:latin typeface="+mn-lt"/>
              </a:rPr>
              <a:t>Экзамен в аспирантуру</a:t>
            </a:r>
            <a:r>
              <a:rPr lang="en-US" dirty="0">
                <a:solidFill>
                  <a:srgbClr val="0823A1"/>
                </a:solidFill>
                <a:latin typeface="+mn-lt"/>
              </a:rPr>
              <a:t>.</a:t>
            </a:r>
            <a:br>
              <a:rPr lang="en-US" dirty="0">
                <a:solidFill>
                  <a:srgbClr val="0823A1"/>
                </a:solidFill>
                <a:latin typeface="+mn-lt"/>
              </a:rPr>
            </a:br>
            <a:r>
              <a:rPr lang="ru-RU" dirty="0">
                <a:solidFill>
                  <a:srgbClr val="0823A1"/>
                </a:solidFill>
                <a:latin typeface="+mn-lt"/>
              </a:rPr>
              <a:t>Прохождение критической энергии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607681-7984-0D44-BDA5-8E2EF885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807" y="3429001"/>
            <a:ext cx="9144000" cy="2772227"/>
          </a:xfrm>
        </p:spPr>
        <p:txBody>
          <a:bodyPr>
            <a:normAutofit/>
          </a:bodyPr>
          <a:lstStyle/>
          <a:p>
            <a:r>
              <a:rPr lang="ru-RU" dirty="0"/>
              <a:t>Студент</a:t>
            </a:r>
            <a:r>
              <a:rPr lang="en-US" dirty="0"/>
              <a:t>: </a:t>
            </a:r>
            <a:r>
              <a:rPr lang="ru-RU" dirty="0"/>
              <a:t>Колокольчиков Сергей Дмитриевич</a:t>
            </a:r>
            <a:br>
              <a:rPr lang="ru-RU" dirty="0"/>
            </a:br>
            <a:r>
              <a:rPr lang="ru-RU" dirty="0"/>
              <a:t>ИЯИ РАН</a:t>
            </a:r>
            <a:r>
              <a:rPr lang="en-US" dirty="0"/>
              <a:t>, </a:t>
            </a:r>
            <a:r>
              <a:rPr lang="ru-RU" dirty="0"/>
              <a:t>МФТИ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Научный руководитель</a:t>
            </a:r>
            <a:r>
              <a:rPr lang="en-US" dirty="0"/>
              <a:t>: </a:t>
            </a:r>
            <a:r>
              <a:rPr lang="ru-RU" dirty="0"/>
              <a:t>Сеничев Юрий Валерьевич</a:t>
            </a:r>
            <a:br>
              <a:rPr lang="ru-RU" dirty="0"/>
            </a:br>
            <a:r>
              <a:rPr lang="ru-RU" dirty="0"/>
              <a:t>ИЯИ РАН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Москва</a:t>
            </a:r>
            <a:r>
              <a:rPr lang="en-US" dirty="0"/>
              <a:t>, 6</a:t>
            </a:r>
            <a:r>
              <a:rPr lang="ru-RU" dirty="0"/>
              <a:t> сентября </a:t>
            </a:r>
            <a:r>
              <a:rPr lang="en-US" dirty="0"/>
              <a:t>2021 </a:t>
            </a:r>
            <a:r>
              <a:rPr lang="ru-RU" dirty="0"/>
              <a:t>год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6" name="正方形/長方形 43">
            <a:extLst>
              <a:ext uri="{FF2B5EF4-FFF2-40B4-BE49-F238E27FC236}">
                <a16:creationId xmlns:a16="http://schemas.microsoft.com/office/drawing/2014/main" id="{DEBD2C6A-06AF-6346-84E2-EB987D75745B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rgbClr val="0823A1"/>
              </a:solidFill>
              <a:highlight>
                <a:srgbClr val="000000"/>
              </a:highlight>
            </a:endParaRPr>
          </a:p>
        </p:txBody>
      </p:sp>
      <p:sp>
        <p:nvSpPr>
          <p:cNvPr id="7" name="スライド番号プレースホルダー 16">
            <a:extLst>
              <a:ext uri="{FF2B5EF4-FFF2-40B4-BE49-F238E27FC236}">
                <a16:creationId xmlns:a16="http://schemas.microsoft.com/office/drawing/2014/main" id="{66ADB101-9535-5545-9751-9A93CDE03375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1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29134CD-F972-B044-8D31-D6B48A010026}"/>
              </a:ext>
            </a:extLst>
          </p:cNvPr>
          <p:cNvCxnSpPr/>
          <p:nvPr/>
        </p:nvCxnSpPr>
        <p:spPr>
          <a:xfrm>
            <a:off x="-25227" y="305268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日付プレースホルダー 14">
            <a:extLst>
              <a:ext uri="{FF2B5EF4-FFF2-40B4-BE49-F238E27FC236}">
                <a16:creationId xmlns:a16="http://schemas.microsoft.com/office/drawing/2014/main" id="{6058EDE9-316B-A44B-A052-C849262B8C27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22134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Содержание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2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2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31C70-F33E-164C-A01D-774B3666385C}"/>
              </a:ext>
            </a:extLst>
          </p:cNvPr>
          <p:cNvSpPr txBox="1"/>
          <p:nvPr/>
        </p:nvSpPr>
        <p:spPr>
          <a:xfrm>
            <a:off x="838200" y="1650846"/>
            <a:ext cx="994703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ru-RU" sz="3000" dirty="0">
                <a:solidFill>
                  <a:srgbClr val="011793"/>
                </a:solidFill>
              </a:rPr>
              <a:t>Критическая энергия </a:t>
            </a:r>
          </a:p>
          <a:p>
            <a:pPr marL="514350" indent="-514350">
              <a:buAutoNum type="arabicPeriod"/>
            </a:pPr>
            <a:endParaRPr lang="ru-RU" sz="3000" dirty="0">
              <a:solidFill>
                <a:srgbClr val="011793"/>
              </a:solidFill>
            </a:endParaRPr>
          </a:p>
          <a:p>
            <a:pPr marL="514350" indent="-514350">
              <a:buAutoNum type="arabicPeriod"/>
            </a:pPr>
            <a:r>
              <a:rPr lang="ru-RU" sz="3000" dirty="0">
                <a:solidFill>
                  <a:srgbClr val="011793"/>
                </a:solidFill>
              </a:rPr>
              <a:t>Нестабильности при её переходе</a:t>
            </a:r>
          </a:p>
          <a:p>
            <a:pPr marL="514350" indent="-514350">
              <a:buAutoNum type="arabicPeriod"/>
            </a:pPr>
            <a:endParaRPr lang="ru-RU" sz="3000" dirty="0">
              <a:solidFill>
                <a:srgbClr val="011793"/>
              </a:solidFill>
            </a:endParaRPr>
          </a:p>
          <a:p>
            <a:pPr marL="514350" indent="-514350">
              <a:buAutoNum type="arabicPeriod"/>
            </a:pPr>
            <a:r>
              <a:rPr lang="ru-RU" sz="3000" dirty="0">
                <a:solidFill>
                  <a:srgbClr val="011793"/>
                </a:solidFill>
              </a:rPr>
              <a:t>Повышение критической энергии</a:t>
            </a:r>
          </a:p>
          <a:p>
            <a:pPr marL="514350" indent="-514350">
              <a:buAutoNum type="arabicPeriod"/>
            </a:pPr>
            <a:endParaRPr lang="ru-RU" sz="3000" dirty="0">
              <a:solidFill>
                <a:srgbClr val="011793"/>
              </a:solidFill>
            </a:endParaRPr>
          </a:p>
          <a:p>
            <a:pPr marL="514350" indent="-514350">
              <a:buAutoNum type="arabicPeriod"/>
            </a:pPr>
            <a:r>
              <a:rPr lang="ru-RU" sz="3000" dirty="0">
                <a:solidFill>
                  <a:srgbClr val="011793"/>
                </a:solidFill>
              </a:rPr>
              <a:t>Коррекция хроматичности</a:t>
            </a:r>
          </a:p>
        </p:txBody>
      </p:sp>
    </p:spTree>
    <p:extLst>
      <p:ext uri="{BB962C8B-B14F-4D97-AF65-F5344CB8AC3E}">
        <p14:creationId xmlns:p14="http://schemas.microsoft.com/office/powerpoint/2010/main" val="227537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Критическая энергия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3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3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E45AC2-AE0A-B44A-A635-A6AA7F5EA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852" y="4103594"/>
            <a:ext cx="3206295" cy="791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6578C2-70DC-9A41-BD9E-2967D6A50275}"/>
              </a:ext>
            </a:extLst>
          </p:cNvPr>
          <p:cNvSpPr txBox="1"/>
          <p:nvPr/>
        </p:nvSpPr>
        <p:spPr>
          <a:xfrm>
            <a:off x="1533379" y="5121678"/>
            <a:ext cx="9820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Зависит только от</a:t>
            </a:r>
            <a:r>
              <a:rPr lang="en-US" sz="2400" dirty="0">
                <a:solidFill>
                  <a:srgbClr val="011793"/>
                </a:solidFill>
              </a:rPr>
              <a:t> </a:t>
            </a:r>
            <a:r>
              <a:rPr lang="ru-RU" sz="2400" dirty="0">
                <a:solidFill>
                  <a:srgbClr val="011793"/>
                </a:solidFill>
              </a:rPr>
              <a:t>магнитооптической структуры и геометрии ускорителя.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31C70-F33E-164C-A01D-774B3666385C}"/>
              </a:ext>
            </a:extLst>
          </p:cNvPr>
          <p:cNvSpPr txBox="1"/>
          <p:nvPr/>
        </p:nvSpPr>
        <p:spPr>
          <a:xfrm>
            <a:off x="1122485" y="1397627"/>
            <a:ext cx="994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11793"/>
                </a:solidFill>
              </a:rPr>
              <a:t>Увеличение энергии в ускорители приводит к</a:t>
            </a:r>
            <a:r>
              <a:rPr lang="en-US" sz="2400" dirty="0">
                <a:solidFill>
                  <a:srgbClr val="011793"/>
                </a:solidFill>
              </a:rPr>
              <a:t>:</a:t>
            </a:r>
            <a:endParaRPr lang="ru-RU" sz="2400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2BE7D7D-43C1-2644-8567-D9AA35AAC59C}"/>
              </a:ext>
            </a:extLst>
          </p:cNvPr>
          <p:cNvCxnSpPr>
            <a:cxnSpLocks/>
          </p:cNvCxnSpPr>
          <p:nvPr/>
        </p:nvCxnSpPr>
        <p:spPr>
          <a:xfrm flipH="1">
            <a:off x="2692186" y="1998799"/>
            <a:ext cx="3391200" cy="42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40AF72F-1ACD-424B-9C05-8111664B2575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096000" y="1998799"/>
            <a:ext cx="3390052" cy="432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58EDB99-8D86-FC47-89F1-9C8BDED093E2}"/>
              </a:ext>
            </a:extLst>
          </p:cNvPr>
          <p:cNvSpPr txBox="1"/>
          <p:nvPr/>
        </p:nvSpPr>
        <p:spPr>
          <a:xfrm>
            <a:off x="361417" y="2432370"/>
            <a:ext cx="4661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11793"/>
                </a:solidFill>
              </a:rPr>
              <a:t>Увеличению скорости частиц</a:t>
            </a:r>
            <a:endParaRPr lang="ru-RU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337A3-AE51-6342-975B-D3EBDBA7737C}"/>
              </a:ext>
            </a:extLst>
          </p:cNvPr>
          <p:cNvSpPr txBox="1"/>
          <p:nvPr/>
        </p:nvSpPr>
        <p:spPr>
          <a:xfrm>
            <a:off x="6654018" y="2431688"/>
            <a:ext cx="5664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11793"/>
                </a:solidFill>
              </a:rPr>
              <a:t>Увеличению длины траекторий частиц</a:t>
            </a:r>
            <a:endParaRPr lang="ru-RU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A750FB-F8B5-7B4B-8114-2BE318999060}"/>
              </a:ext>
            </a:extLst>
          </p:cNvPr>
          <p:cNvSpPr txBox="1"/>
          <p:nvPr/>
        </p:nvSpPr>
        <p:spPr>
          <a:xfrm>
            <a:off x="1533379" y="3375069"/>
            <a:ext cx="9820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Отношение между энергией пучка при переходе к энергии покоя –</a:t>
            </a:r>
          </a:p>
        </p:txBody>
      </p:sp>
    </p:spTree>
    <p:extLst>
      <p:ext uri="{BB962C8B-B14F-4D97-AF65-F5344CB8AC3E}">
        <p14:creationId xmlns:p14="http://schemas.microsoft.com/office/powerpoint/2010/main" val="413497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>
                <a:solidFill>
                  <a:srgbClr val="0823A1"/>
                </a:solidFill>
              </a:rPr>
              <a:t>Slip-factor</a:t>
            </a:r>
            <a:endParaRPr lang="ru-RU" b="1" dirty="0">
              <a:solidFill>
                <a:srgbClr val="0823A1"/>
              </a:solidFill>
            </a:endParaRP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4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4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578C2-70DC-9A41-BD9E-2967D6A50275}"/>
                  </a:ext>
                </a:extLst>
              </p:cNvPr>
              <p:cNvSpPr txBox="1"/>
              <p:nvPr/>
            </p:nvSpPr>
            <p:spPr>
              <a:xfrm>
                <a:off x="1270099" y="1335485"/>
                <a:ext cx="982042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011793"/>
                    </a:solidFill>
                  </a:rPr>
                  <a:t>Переход через критическую энергию изменяет знак</a:t>
                </a:r>
                <a:r>
                  <a:rPr lang="en-US" sz="2400" dirty="0">
                    <a:solidFill>
                      <a:srgbClr val="01179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117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ru-RU" sz="2400" dirty="0">
                    <a:solidFill>
                      <a:srgbClr val="011793"/>
                    </a:solidFill>
                  </a:rPr>
                  <a:t> </a:t>
                </a:r>
                <a:r>
                  <a:rPr lang="en-US" sz="2400" dirty="0">
                    <a:solidFill>
                      <a:srgbClr val="011793"/>
                    </a:solidFill>
                  </a:rPr>
                  <a:t>slip-factor (</a:t>
                </a:r>
                <a:r>
                  <a:rPr lang="ru-RU" sz="2400" dirty="0">
                    <a:solidFill>
                      <a:srgbClr val="011793"/>
                    </a:solidFill>
                  </a:rPr>
                  <a:t>отношение разброса частиц к разбросу по импульсам</a:t>
                </a:r>
                <a:r>
                  <a:rPr lang="en-US" sz="2400" dirty="0">
                    <a:solidFill>
                      <a:srgbClr val="011793"/>
                    </a:solidFill>
                  </a:rPr>
                  <a:t>)</a:t>
                </a:r>
                <a:endParaRPr lang="ru-RU" sz="2400" dirty="0">
                  <a:solidFill>
                    <a:srgbClr val="011793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578C2-70DC-9A41-BD9E-2967D6A5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99" y="1335485"/>
                <a:ext cx="9820421" cy="830997"/>
              </a:xfrm>
              <a:prstGeom prst="rect">
                <a:avLst/>
              </a:prstGeom>
              <a:blipFill>
                <a:blip r:embed="rId2"/>
                <a:stretch>
                  <a:fillRect l="-904" t="-4615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9062845-EFC6-6641-8A88-0A5965165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572" y="2364172"/>
            <a:ext cx="3206295" cy="8888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BC2E890-CAF1-BF47-AB73-4775A8A24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589" y="3709219"/>
            <a:ext cx="2053459" cy="6100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1D419A-DDD8-F349-BD59-A2D0F42DAEA9}"/>
              </a:ext>
            </a:extLst>
          </p:cNvPr>
          <p:cNvSpPr txBox="1"/>
          <p:nvPr/>
        </p:nvSpPr>
        <p:spPr>
          <a:xfrm>
            <a:off x="1270099" y="3358340"/>
            <a:ext cx="10658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Частота синхротрона пропорциональна</a:t>
            </a:r>
            <a:r>
              <a:rPr lang="en-US" sz="2400" dirty="0">
                <a:solidFill>
                  <a:srgbClr val="011793"/>
                </a:solidFill>
              </a:rPr>
              <a:t> slip-factor </a:t>
            </a:r>
            <a:r>
              <a:rPr lang="ru-RU" sz="2400" dirty="0">
                <a:solidFill>
                  <a:srgbClr val="011793"/>
                </a:solidFill>
              </a:rPr>
              <a:t>и косинусу фазы синхротронной частицы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9E9E08D-C4A0-A840-99A1-C11027856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526" y="4563551"/>
            <a:ext cx="361197" cy="34477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86C02AD-E2CD-DE49-AE31-6BB903E44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155" y="4563551"/>
            <a:ext cx="841046" cy="3808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54E9A53-5BC3-6049-8E16-F1DB311AA22C}"/>
              </a:ext>
            </a:extLst>
          </p:cNvPr>
          <p:cNvSpPr txBox="1"/>
          <p:nvPr/>
        </p:nvSpPr>
        <p:spPr>
          <a:xfrm>
            <a:off x="1270099" y="4482737"/>
            <a:ext cx="5446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фаза синхронной частицы изменяется с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26B7D-73A8-9A4D-A19B-ACB5D359CF68}"/>
              </a:ext>
            </a:extLst>
          </p:cNvPr>
          <p:cNvSpPr txBox="1"/>
          <p:nvPr/>
        </p:nvSpPr>
        <p:spPr>
          <a:xfrm>
            <a:off x="7173903" y="4467927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на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3B5F4-DF1A-E64E-B6E1-E8385A9E8A92}"/>
              </a:ext>
            </a:extLst>
          </p:cNvPr>
          <p:cNvSpPr txBox="1"/>
          <p:nvPr/>
        </p:nvSpPr>
        <p:spPr>
          <a:xfrm>
            <a:off x="1223366" y="5177163"/>
            <a:ext cx="10658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 для сохранения стабильности продольного движения пучка.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A7433A5-69D5-6F4F-B7F8-14A7D28A14AC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221" y="4217725"/>
            <a:ext cx="2472690" cy="192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0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 err="1">
                <a:solidFill>
                  <a:srgbClr val="0823A1"/>
                </a:solidFill>
              </a:rPr>
              <a:t>Неадиабатичность</a:t>
            </a:r>
            <a:endParaRPr lang="ru-RU" b="1" dirty="0">
              <a:solidFill>
                <a:srgbClr val="0823A1"/>
              </a:solidFill>
            </a:endParaRP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5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5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6578C2-70DC-9A41-BD9E-2967D6A50275}"/>
              </a:ext>
            </a:extLst>
          </p:cNvPr>
          <p:cNvSpPr txBox="1"/>
          <p:nvPr/>
        </p:nvSpPr>
        <p:spPr>
          <a:xfrm>
            <a:off x="1533379" y="1323401"/>
            <a:ext cx="9820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Более того, перестает соблюдаться условие </a:t>
            </a:r>
            <a:r>
              <a:rPr lang="ru-RU" sz="2400" dirty="0" err="1">
                <a:solidFill>
                  <a:srgbClr val="011793"/>
                </a:solidFill>
              </a:rPr>
              <a:t>адиабатичности</a:t>
            </a:r>
            <a:endParaRPr lang="ru-RU" sz="2400" dirty="0">
              <a:solidFill>
                <a:srgbClr val="011793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1D419A-DDD8-F349-BD59-A2D0F42DAEA9}"/>
              </a:ext>
            </a:extLst>
          </p:cNvPr>
          <p:cNvSpPr txBox="1"/>
          <p:nvPr/>
        </p:nvSpPr>
        <p:spPr>
          <a:xfrm>
            <a:off x="1052488" y="3218077"/>
            <a:ext cx="10658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Физический смысл – частицы не успевают за изменением области устойчивости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69CC9C-992A-9849-9DD7-92277132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69" y="1975590"/>
            <a:ext cx="2110661" cy="101451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CDC4485-9172-5643-A1F9-C8039218D2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74" y="3679741"/>
            <a:ext cx="3032886" cy="2439167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BD7CE1F-6D2F-484E-8277-838736F465A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457" y="3727649"/>
            <a:ext cx="3440441" cy="243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98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Эффект пространственного заряда </a:t>
            </a:r>
            <a:r>
              <a:rPr lang="en-US" b="1" dirty="0">
                <a:solidFill>
                  <a:srgbClr val="0823A1"/>
                </a:solidFill>
              </a:rPr>
              <a:t>(SC)</a:t>
            </a:r>
            <a:endParaRPr lang="ru-RU" b="1" dirty="0">
              <a:solidFill>
                <a:srgbClr val="0823A1"/>
              </a:solidFill>
            </a:endParaRP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6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6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90DC4A-1DA7-7B47-B3EE-B17C44376E00}"/>
                  </a:ext>
                </a:extLst>
              </p:cNvPr>
              <p:cNvSpPr txBox="1"/>
              <p:nvPr/>
            </p:nvSpPr>
            <p:spPr>
              <a:xfrm>
                <a:off x="6604000" y="1354295"/>
                <a:ext cx="47498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011793"/>
                    </a:solidFill>
                  </a:rPr>
                  <a:t>Электрическое поле пространственного заряда отстает на </a:t>
                </a:r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2400" dirty="0">
                    <a:solidFill>
                      <a:srgbClr val="011793"/>
                    </a:solidFill>
                  </a:rPr>
                  <a:t> от сигнала</a:t>
                </a:r>
                <a:r>
                  <a:rPr lang="en-US" sz="2400" dirty="0">
                    <a:solidFill>
                      <a:srgbClr val="011793"/>
                    </a:solidFill>
                  </a:rPr>
                  <a:t>:</a:t>
                </a:r>
                <a:endParaRPr lang="ru-RU" sz="2400" dirty="0">
                  <a:solidFill>
                    <a:srgbClr val="011793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90DC4A-1DA7-7B47-B3EE-B17C44376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1354295"/>
                <a:ext cx="4749800" cy="1200329"/>
              </a:xfrm>
              <a:prstGeom prst="rect">
                <a:avLst/>
              </a:prstGeom>
              <a:blipFill>
                <a:blip r:embed="rId2"/>
                <a:stretch>
                  <a:fillRect l="-1867" t="-4211" r="-1067" b="-105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E46F283-12FB-734B-9F6E-9DE59F605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2961687"/>
            <a:ext cx="4749800" cy="939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0FA2A72-A382-3049-99DB-FF10756B2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13" y="1416472"/>
            <a:ext cx="5699219" cy="46473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2FDBA63-D866-E74D-AF8B-CE0BA8CEF1D3}"/>
              </a:ext>
            </a:extLst>
          </p:cNvPr>
          <p:cNvSpPr txBox="1"/>
          <p:nvPr/>
        </p:nvSpPr>
        <p:spPr>
          <a:xfrm>
            <a:off x="6604000" y="4224920"/>
            <a:ext cx="51071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11793"/>
                </a:solidFill>
              </a:rPr>
              <a:t>Выше энергии перехода </a:t>
            </a:r>
            <a:r>
              <a:rPr lang="en-US" sz="2400" dirty="0">
                <a:solidFill>
                  <a:srgbClr val="011793"/>
                </a:solidFill>
              </a:rPr>
              <a:t>SC </a:t>
            </a:r>
            <a:r>
              <a:rPr lang="ru-RU" sz="2400" dirty="0">
                <a:solidFill>
                  <a:srgbClr val="011793"/>
                </a:solidFill>
              </a:rPr>
              <a:t>делает пучок нестабильным.</a:t>
            </a:r>
            <a:br>
              <a:rPr lang="ru-RU" sz="2400" dirty="0">
                <a:solidFill>
                  <a:srgbClr val="011793"/>
                </a:solidFill>
              </a:rPr>
            </a:br>
            <a:br>
              <a:rPr lang="ru-RU" sz="2400" dirty="0">
                <a:solidFill>
                  <a:srgbClr val="011793"/>
                </a:solidFill>
              </a:rPr>
            </a:br>
            <a:r>
              <a:rPr lang="ru-RU" sz="2400" dirty="0">
                <a:solidFill>
                  <a:srgbClr val="011793"/>
                </a:solidFill>
              </a:rPr>
              <a:t>Частицы с более высокой энергией движутся в машине медленнее</a:t>
            </a:r>
          </a:p>
        </p:txBody>
      </p:sp>
    </p:spTree>
    <p:extLst>
      <p:ext uri="{BB962C8B-B14F-4D97-AF65-F5344CB8AC3E}">
        <p14:creationId xmlns:p14="http://schemas.microsoft.com/office/powerpoint/2010/main" val="352165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Учет </a:t>
            </a:r>
            <a:r>
              <a:rPr lang="ru-RU" b="1" dirty="0" err="1">
                <a:solidFill>
                  <a:srgbClr val="0823A1"/>
                </a:solidFill>
              </a:rPr>
              <a:t>импедансов</a:t>
            </a:r>
            <a:endParaRPr lang="ru-RU" b="1" dirty="0">
              <a:solidFill>
                <a:srgbClr val="0823A1"/>
              </a:solidFill>
            </a:endParaRP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7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7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D8182A-E00A-8E49-A5EE-D1E617C5B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87" y="2173278"/>
            <a:ext cx="4241800" cy="12192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6859853-79BC-4F40-BAAE-8CCBCF50A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01" y="4100661"/>
            <a:ext cx="3365500" cy="127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5C1D72-343B-3542-A34A-36408927B099}"/>
                  </a:ext>
                </a:extLst>
              </p:cNvPr>
              <p:cNvSpPr txBox="1"/>
              <p:nvPr/>
            </p:nvSpPr>
            <p:spPr>
              <a:xfrm>
                <a:off x="1154724" y="1364379"/>
                <a:ext cx="10199076" cy="1208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solidFill>
                      <a:srgbClr val="0823A1"/>
                    </a:solidFill>
                  </a:rPr>
                  <a:t>В общем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823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823A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823A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823A1"/>
                    </a:solidFill>
                  </a:rPr>
                  <a:t> </a:t>
                </a:r>
                <a:r>
                  <a:rPr lang="ru-RU" sz="2400" dirty="0">
                    <a:solidFill>
                      <a:srgbClr val="0823A1"/>
                    </a:solidFill>
                  </a:rPr>
                  <a:t>содержит все детали электромагнитной связи между пучком и окружающей средой.</a:t>
                </a:r>
                <a:br>
                  <a:rPr lang="en-US" sz="2400" dirty="0">
                    <a:solidFill>
                      <a:srgbClr val="0823A1"/>
                    </a:solidFill>
                  </a:rPr>
                </a:br>
                <a:endParaRPr lang="ru-RU" sz="2400" dirty="0">
                  <a:solidFill>
                    <a:srgbClr val="0823A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5C1D72-343B-3542-A34A-36408927B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724" y="1364379"/>
                <a:ext cx="10199076" cy="1208279"/>
              </a:xfrm>
              <a:prstGeom prst="rect">
                <a:avLst/>
              </a:prstGeom>
              <a:blipFill>
                <a:blip r:embed="rId4"/>
                <a:stretch>
                  <a:fillRect l="-871" t="-3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FD1ED6A-DB00-DE48-987E-A2AFD73E112D}"/>
              </a:ext>
            </a:extLst>
          </p:cNvPr>
          <p:cNvSpPr txBox="1"/>
          <p:nvPr/>
        </p:nvSpPr>
        <p:spPr>
          <a:xfrm>
            <a:off x="1154724" y="3436411"/>
            <a:ext cx="10199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823A1"/>
                </a:solidFill>
              </a:rPr>
              <a:t>В частности импеданс пространственного заряда</a:t>
            </a:r>
            <a:r>
              <a:rPr lang="en-US" sz="2400" dirty="0">
                <a:solidFill>
                  <a:srgbClr val="0823A1"/>
                </a:solidFill>
              </a:rPr>
              <a:t>:</a:t>
            </a:r>
            <a:endParaRPr lang="ru-RU" sz="2400" dirty="0">
              <a:solidFill>
                <a:srgbClr val="0823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56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Прохождение через критическую </a:t>
            </a:r>
            <a:r>
              <a:rPr lang="ru-RU" b="1" dirty="0" err="1">
                <a:solidFill>
                  <a:srgbClr val="0823A1"/>
                </a:solidFill>
              </a:rPr>
              <a:t>энегию</a:t>
            </a:r>
            <a:endParaRPr lang="ru-RU" b="1" dirty="0">
              <a:solidFill>
                <a:srgbClr val="0823A1"/>
              </a:solidFill>
            </a:endParaRP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8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8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56459B-C2A2-8447-A354-236038D2D0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299" y="3519165"/>
            <a:ext cx="3369501" cy="224579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CD11D85-A66C-F746-9DE6-43DE4B9065D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23" y="3378915"/>
            <a:ext cx="3217109" cy="23496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0D60269-91EC-2843-A949-7A134738BA7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418" y="3378915"/>
            <a:ext cx="3648198" cy="229943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6ADFCC-6465-1B4B-9A7B-1064C93912BA}"/>
              </a:ext>
            </a:extLst>
          </p:cNvPr>
          <p:cNvSpPr/>
          <p:nvPr/>
        </p:nvSpPr>
        <p:spPr>
          <a:xfrm>
            <a:off x="790056" y="1655242"/>
            <a:ext cx="103831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До перехода длина сгустка изменяется плавно и роста продольного </a:t>
            </a:r>
            <a:r>
              <a:rPr lang="ru-RU" sz="2000" dirty="0" err="1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эмиттанса</a:t>
            </a:r>
            <a:r>
              <a:rPr lang="ru-RU" sz="2000" dirty="0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 не происходит, однако при переходе через критическую энергию происходит скачок и мгновенное увеличение </a:t>
            </a:r>
            <a:r>
              <a:rPr lang="ru-RU" sz="2000" dirty="0" err="1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эмиттанса</a:t>
            </a:r>
            <a:r>
              <a:rPr lang="ru-RU" sz="2000" dirty="0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.</a:t>
            </a:r>
            <a:r>
              <a:rPr lang="ru-RU" sz="2000" dirty="0">
                <a:solidFill>
                  <a:srgbClr val="0823A1"/>
                </a:solidFill>
                <a:effectLst/>
              </a:rPr>
              <a:t> </a:t>
            </a:r>
            <a:endParaRPr lang="ru-RU" sz="2000" dirty="0">
              <a:solidFill>
                <a:srgbClr val="0823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700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Прохождение через критическую </a:t>
            </a:r>
            <a:r>
              <a:rPr lang="ru-RU" b="1" dirty="0" err="1">
                <a:solidFill>
                  <a:srgbClr val="0823A1"/>
                </a:solidFill>
              </a:rPr>
              <a:t>энегию</a:t>
            </a:r>
            <a:endParaRPr lang="ru-RU" b="1" dirty="0">
              <a:solidFill>
                <a:srgbClr val="0823A1"/>
              </a:solidFill>
            </a:endParaRP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9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9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A0D05CE-4F91-DA4F-BC7C-D512FA10850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30" y="2844067"/>
            <a:ext cx="3966054" cy="324358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3D831B0-6E07-1D44-9765-A481F6BA410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24" y="2855156"/>
            <a:ext cx="3659205" cy="303206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962A09A-881F-3B4D-8CCF-DC10714AA28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874" y="3119335"/>
            <a:ext cx="3482235" cy="278294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6A9175A-1A18-7247-B7D2-0D083ACE3B33}"/>
              </a:ext>
            </a:extLst>
          </p:cNvPr>
          <p:cNvSpPr/>
          <p:nvPr/>
        </p:nvSpPr>
        <p:spPr>
          <a:xfrm>
            <a:off x="605424" y="1456028"/>
            <a:ext cx="107483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Пучок сжимается вблизи энергии перехода, там самым генерируя большое напряжение, которое сильно влияет на фазовый портрет пучка. Этот эффект значительно усиливается отсутствием </a:t>
            </a:r>
            <a:r>
              <a:rPr lang="ru-RU" sz="2000" dirty="0" err="1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синхтротного</a:t>
            </a:r>
            <a:r>
              <a:rPr lang="ru-RU" sz="2000" dirty="0">
                <a:solidFill>
                  <a:srgbClr val="0823A1"/>
                </a:solidFill>
                <a:ea typeface="Calibri" panose="020F0502020204030204" pitchFamily="34" charset="0"/>
                <a:cs typeface="Times New Roman (Заголовки (сло"/>
              </a:rPr>
              <a:t> движения вблизи перехода. </a:t>
            </a:r>
            <a:endParaRPr lang="ru-RU" sz="2000" dirty="0">
              <a:solidFill>
                <a:srgbClr val="0823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7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Повышение критической энергии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10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10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3DA0708-7FD8-9145-84BE-F2621255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438" y="1840706"/>
            <a:ext cx="2477086" cy="1111513"/>
          </a:xfrm>
          <a:prstGeom prst="rect">
            <a:avLst/>
          </a:prstGeom>
        </p:spPr>
      </p:pic>
      <p:sp>
        <p:nvSpPr>
          <p:cNvPr id="12" name="コンテンツ プレースホルダー 1">
            <a:extLst>
              <a:ext uri="{FF2B5EF4-FFF2-40B4-BE49-F238E27FC236}">
                <a16:creationId xmlns:a16="http://schemas.microsoft.com/office/drawing/2014/main" id="{9C9BF9F5-95D1-FA4A-A0DC-657250513100}"/>
              </a:ext>
            </a:extLst>
          </p:cNvPr>
          <p:cNvSpPr txBox="1"/>
          <p:nvPr/>
        </p:nvSpPr>
        <p:spPr>
          <a:xfrm>
            <a:off x="-12613" y="1283822"/>
            <a:ext cx="12192000" cy="61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457200" lvl="1" indent="0" algn="ctr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Коэффициент расширения орбиты (</a:t>
            </a:r>
            <a:r>
              <a:rPr lang="en-US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Momentum Compaction Factor)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F63B807-A485-3241-8226-56CF086F7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311" y="3616771"/>
            <a:ext cx="3775710" cy="807739"/>
          </a:xfrm>
          <a:prstGeom prst="rect">
            <a:avLst/>
          </a:prstGeom>
        </p:spPr>
      </p:pic>
      <p:sp>
        <p:nvSpPr>
          <p:cNvPr id="15" name="コンテンツ プレースホルダー 1">
            <a:extLst>
              <a:ext uri="{FF2B5EF4-FFF2-40B4-BE49-F238E27FC236}">
                <a16:creationId xmlns:a16="http://schemas.microsoft.com/office/drawing/2014/main" id="{CD9199AB-3A45-0744-BF80-AA7D706C58BB}"/>
              </a:ext>
            </a:extLst>
          </p:cNvPr>
          <p:cNvSpPr txBox="1"/>
          <p:nvPr/>
        </p:nvSpPr>
        <p:spPr>
          <a:xfrm>
            <a:off x="-314324" y="2969901"/>
            <a:ext cx="12196311" cy="61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457200" lvl="1" indent="0" algn="ctr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Уравнение для дисперсионной функции с </a:t>
            </a:r>
            <a:r>
              <a:rPr lang="ru-RU" sz="2400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бипериодической</a:t>
            </a: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переменной фокусировкой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3424BC0-9DF4-1945-BA9A-FEC4F49E1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204" y="4316276"/>
            <a:ext cx="3241424" cy="542442"/>
          </a:xfrm>
          <a:prstGeom prst="rect">
            <a:avLst/>
          </a:prstGeom>
        </p:spPr>
      </p:pic>
      <p:sp>
        <p:nvSpPr>
          <p:cNvPr id="20" name="コンテンツ プレースホルダー 1">
            <a:extLst>
              <a:ext uri="{FF2B5EF4-FFF2-40B4-BE49-F238E27FC236}">
                <a16:creationId xmlns:a16="http://schemas.microsoft.com/office/drawing/2014/main" id="{D51847D8-2485-5B41-AA1D-2FE9B5F33C9A}"/>
              </a:ext>
            </a:extLst>
          </p:cNvPr>
          <p:cNvSpPr txBox="1"/>
          <p:nvPr/>
        </p:nvSpPr>
        <p:spPr>
          <a:xfrm>
            <a:off x="310013" y="5435308"/>
            <a:ext cx="4341123" cy="429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/>
          <a:p>
            <a:pPr marL="457200" lvl="1" indent="0" algn="ctr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0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градиент магнитооптических линз</a:t>
            </a:r>
          </a:p>
        </p:txBody>
      </p:sp>
      <p:sp>
        <p:nvSpPr>
          <p:cNvPr id="21" name="コンテンツ プレースホルダー 1">
            <a:extLst>
              <a:ext uri="{FF2B5EF4-FFF2-40B4-BE49-F238E27FC236}">
                <a16:creationId xmlns:a16="http://schemas.microsoft.com/office/drawing/2014/main" id="{AC0761B0-A9BB-004E-AFA6-E57711F7F60C}"/>
              </a:ext>
            </a:extLst>
          </p:cNvPr>
          <p:cNvSpPr txBox="1"/>
          <p:nvPr/>
        </p:nvSpPr>
        <p:spPr>
          <a:xfrm>
            <a:off x="6451630" y="5430783"/>
            <a:ext cx="5259479" cy="429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457200" lvl="1" indent="0" algn="ctr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0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суперпериодическая модуляция градиента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9DD16C46-2BE5-8E4D-BFD5-54ECDB5921D4}"/>
              </a:ext>
            </a:extLst>
          </p:cNvPr>
          <p:cNvCxnSpPr>
            <a:cxnSpLocks/>
          </p:cNvCxnSpPr>
          <p:nvPr/>
        </p:nvCxnSpPr>
        <p:spPr>
          <a:xfrm flipH="1">
            <a:off x="2640825" y="4858850"/>
            <a:ext cx="3528000" cy="522000"/>
          </a:xfrm>
          <a:prstGeom prst="straightConnector1">
            <a:avLst/>
          </a:prstGeom>
          <a:noFill/>
          <a:ln w="12700" cap="flat">
            <a:solidFill>
              <a:srgbClr val="0823A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AB09465-A702-5D4A-8A3B-62B949F5A76B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6178916" y="4858718"/>
            <a:ext cx="3532509" cy="522264"/>
          </a:xfrm>
          <a:prstGeom prst="straightConnector1">
            <a:avLst/>
          </a:prstGeom>
          <a:noFill/>
          <a:ln w="12700" cap="flat">
            <a:solidFill>
              <a:srgbClr val="0823A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4380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Модуляция градиентов и кривизны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11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11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713EEC-CD69-5B45-A71C-949D05775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285" y="1387156"/>
            <a:ext cx="3833348" cy="8090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50EDE8-0A14-5F4C-AE3B-ADDDC1ADF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367" y="1370707"/>
            <a:ext cx="3172802" cy="557644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7B86C0C3-31FC-0D46-8CA6-7466F66C8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8" name="Объект 27">
            <a:extLst>
              <a:ext uri="{FF2B5EF4-FFF2-40B4-BE49-F238E27FC236}">
                <a16:creationId xmlns:a16="http://schemas.microsoft.com/office/drawing/2014/main" id="{6E8E66DF-693E-B84B-9F56-D85B4AB6E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472061"/>
              </p:ext>
            </p:extLst>
          </p:nvPr>
        </p:nvGraphicFramePr>
        <p:xfrm>
          <a:off x="3928703" y="2857076"/>
          <a:ext cx="4869164" cy="111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5" imgW="2552700" imgH="584200" progId="Equation.3">
                  <p:embed/>
                </p:oleObj>
              </mc:Choice>
              <mc:Fallback>
                <p:oleObj r:id="rId5" imgW="2552700" imgH="584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8703" y="2857076"/>
                        <a:ext cx="4869164" cy="11143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コンテンツ プレースホルダー 1">
            <a:extLst>
              <a:ext uri="{FF2B5EF4-FFF2-40B4-BE49-F238E27FC236}">
                <a16:creationId xmlns:a16="http://schemas.microsoft.com/office/drawing/2014/main" id="{6C5EF18E-F700-6A45-8AAC-CBF3C178C0C3}"/>
              </a:ext>
            </a:extLst>
          </p:cNvPr>
          <p:cNvSpPr txBox="1"/>
          <p:nvPr/>
        </p:nvSpPr>
        <p:spPr>
          <a:xfrm>
            <a:off x="611100" y="2279195"/>
            <a:ext cx="10944573" cy="557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457200" lvl="1" indent="0" algn="ctr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Выражение </a:t>
            </a:r>
            <a:r>
              <a:rPr lang="en-US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MCF </a:t>
            </a: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lang="en-US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совместной модуляции градиентов и кривизны орбиты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コンテンツ プレースホルダー 1">
                <a:extLst>
                  <a:ext uri="{FF2B5EF4-FFF2-40B4-BE49-F238E27FC236}">
                    <a16:creationId xmlns:a16="http://schemas.microsoft.com/office/drawing/2014/main" id="{B9588878-7A11-1A45-931B-28A2C2BF479E}"/>
                  </a:ext>
                </a:extLst>
              </p:cNvPr>
              <p:cNvSpPr txBox="1"/>
              <p:nvPr/>
            </p:nvSpPr>
            <p:spPr>
              <a:xfrm>
                <a:off x="510281" y="4053605"/>
                <a:ext cx="10944573" cy="99669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normAutofit/>
              </a:bodyPr>
              <a:lstStyle/>
              <a:p>
                <a:pPr lvl="1">
                  <a:lnSpc>
                    <a:spcPct val="110000"/>
                  </a:lnSpc>
                  <a:spcBef>
                    <a:spcPts val="500"/>
                  </a:spcBef>
                  <a:buSzPct val="100000"/>
                  <a:defRPr sz="25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Таким образом, чтобы дисперсия на прямом участке = 0, в арке, состоящей из </a:t>
                </a: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 </a:t>
                </a: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суперпериодов, то набег фазы радиальных колебаний должен быть кратен</a:t>
                </a: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2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endParaRPr lang="ru-RU" sz="2400" dirty="0">
                  <a:solidFill>
                    <a:srgbClr val="01189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2" name="コンテンツ プレースホルダー 1">
                <a:extLst>
                  <a:ext uri="{FF2B5EF4-FFF2-40B4-BE49-F238E27FC236}">
                    <a16:creationId xmlns:a16="http://schemas.microsoft.com/office/drawing/2014/main" id="{B9588878-7A11-1A45-931B-28A2C2BF4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81" y="4053605"/>
                <a:ext cx="10944573" cy="996698"/>
              </a:xfrm>
              <a:prstGeom prst="rect">
                <a:avLst/>
              </a:prstGeom>
              <a:blipFill>
                <a:blip r:embed="rId7"/>
                <a:stretch>
                  <a:fillRect t="-2564" r="-929" b="-128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1BA86-FEFD-254C-995D-90F67BE09923}"/>
                  </a:ext>
                </a:extLst>
              </p:cNvPr>
              <p:cNvSpPr txBox="1"/>
              <p:nvPr/>
            </p:nvSpPr>
            <p:spPr>
              <a:xfrm>
                <a:off x="5866019" y="4957345"/>
                <a:ext cx="4347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823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ru-RU" sz="2400" dirty="0">
                  <a:solidFill>
                    <a:srgbClr val="0823A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1BA86-FEFD-254C-995D-90F67BE0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019" y="4957345"/>
                <a:ext cx="43473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コンテンツ プレースホルダー 1">
                <a:extLst>
                  <a:ext uri="{FF2B5EF4-FFF2-40B4-BE49-F238E27FC236}">
                    <a16:creationId xmlns:a16="http://schemas.microsoft.com/office/drawing/2014/main" id="{BBAC5E26-406A-C14D-B9D1-558F8948DF98}"/>
                  </a:ext>
                </a:extLst>
              </p:cNvPr>
              <p:cNvSpPr txBox="1"/>
              <p:nvPr/>
            </p:nvSpPr>
            <p:spPr>
              <a:xfrm>
                <a:off x="325812" y="5463699"/>
                <a:ext cx="5677040" cy="5101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normAutofit/>
              </a:bodyPr>
              <a:lstStyle/>
              <a:p>
                <a:pPr lvl="1">
                  <a:lnSpc>
                    <a:spcPct val="110000"/>
                  </a:lnSpc>
                  <a:spcBef>
                    <a:spcPts val="500"/>
                  </a:spcBef>
                  <a:buSzPct val="100000"/>
                  <a:defRPr sz="25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Набег фазы на суперпериоде 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2400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𝜈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𝑎𝑟𝑐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/</m:t>
                    </m:r>
                    <m:r>
                      <a:rPr lang="en-US" sz="2400" b="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</m:oMath>
                </a14:m>
                <a:endParaRPr lang="ru-RU" sz="2400" dirty="0">
                  <a:solidFill>
                    <a:srgbClr val="01189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4" name="コンテンツ プレースホルダー 1">
                <a:extLst>
                  <a:ext uri="{FF2B5EF4-FFF2-40B4-BE49-F238E27FC236}">
                    <a16:creationId xmlns:a16="http://schemas.microsoft.com/office/drawing/2014/main" id="{BBAC5E26-406A-C14D-B9D1-558F8948D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2" y="5463699"/>
                <a:ext cx="5677040" cy="510157"/>
              </a:xfrm>
              <a:prstGeom prst="rect">
                <a:avLst/>
              </a:prstGeom>
              <a:blipFill>
                <a:blip r:embed="rId9"/>
                <a:stretch>
                  <a:fillRect t="-5000" b="-20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81A22D-9762-5242-8004-B474A323B838}"/>
                  </a:ext>
                </a:extLst>
              </p:cNvPr>
              <p:cNvSpPr txBox="1"/>
              <p:nvPr/>
            </p:nvSpPr>
            <p:spPr>
              <a:xfrm>
                <a:off x="6651465" y="5488059"/>
                <a:ext cx="5116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823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ru-RU" sz="2400" dirty="0">
                  <a:solidFill>
                    <a:srgbClr val="0823A1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81A22D-9762-5242-8004-B474A323B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465" y="5488059"/>
                <a:ext cx="511679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コンテンツ プレースホルダー 1">
                <a:extLst>
                  <a:ext uri="{FF2B5EF4-FFF2-40B4-BE49-F238E27FC236}">
                    <a16:creationId xmlns:a16="http://schemas.microsoft.com/office/drawing/2014/main" id="{E6BD45A9-E339-BA46-B1AF-2C2980FE1D7A}"/>
                  </a:ext>
                </a:extLst>
              </p:cNvPr>
              <p:cNvSpPr txBox="1"/>
              <p:nvPr/>
            </p:nvSpPr>
            <p:spPr>
              <a:xfrm>
                <a:off x="6363285" y="5463699"/>
                <a:ext cx="5677040" cy="5101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normAutofit/>
              </a:bodyPr>
              <a:lstStyle/>
              <a:p>
                <a:pPr lvl="1">
                  <a:lnSpc>
                    <a:spcPct val="110000"/>
                  </a:lnSpc>
                  <a:spcBef>
                    <a:spcPts val="500"/>
                  </a:spcBef>
                  <a:buSzPct val="100000"/>
                  <a:defRPr sz="25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𝜈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𝑎𝑟𝑐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𝑆</m:t>
                      </m:r>
                      <m:r>
                        <a:rPr lang="en-US" sz="2400" b="0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=−1</m:t>
                      </m:r>
                    </m:oMath>
                  </m:oMathPara>
                </a14:m>
                <a:endParaRPr lang="ru-RU" sz="2400" dirty="0">
                  <a:solidFill>
                    <a:srgbClr val="01189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7" name="コンテンツ プレースホルダー 1">
                <a:extLst>
                  <a:ext uri="{FF2B5EF4-FFF2-40B4-BE49-F238E27FC236}">
                    <a16:creationId xmlns:a16="http://schemas.microsoft.com/office/drawing/2014/main" id="{E6BD45A9-E339-BA46-B1AF-2C2980FE1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285" y="5463699"/>
                <a:ext cx="5677040" cy="5101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19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Набег фазы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12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12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B86C0C3-31FC-0D46-8CA6-7466F66C8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コンテンツ プレースホルダー 1">
                <a:extLst>
                  <a:ext uri="{FF2B5EF4-FFF2-40B4-BE49-F238E27FC236}">
                    <a16:creationId xmlns:a16="http://schemas.microsoft.com/office/drawing/2014/main" id="{E6BD45A9-E339-BA46-B1AF-2C2980FE1D7A}"/>
                  </a:ext>
                </a:extLst>
              </p:cNvPr>
              <p:cNvSpPr txBox="1"/>
              <p:nvPr/>
            </p:nvSpPr>
            <p:spPr>
              <a:xfrm>
                <a:off x="3498085" y="2246680"/>
                <a:ext cx="4829989" cy="8319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normAutofit/>
              </a:bodyPr>
              <a:lstStyle/>
              <a:p>
                <a:pPr lvl="1">
                  <a:lnSpc>
                    <a:spcPct val="110000"/>
                  </a:lnSpc>
                  <a:spcBef>
                    <a:spcPts val="500"/>
                  </a:spcBef>
                  <a:buSzPct val="100000"/>
                  <a:defRPr sz="25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14:m>
                  <m:oMath xmlns:m="http://schemas.openxmlformats.org/officeDocument/2006/math">
                    <m:r>
                      <a:rPr lang="ru-RU" sz="2400" b="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ru-RU" sz="2400" b="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  <m:f>
                      <m:fPr>
                        <m:ctrlPr>
                          <a:rPr lang="ru-RU" sz="2400" b="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𝑎𝑟𝑐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</m:den>
                    </m:f>
                    <m:r>
                      <a:rPr lang="en-US" sz="2400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 sz="2400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n-US" sz="24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𝜈</m:t>
                        </m:r>
                      </m:e>
                      <m:sub>
                        <m:r>
                          <a:rPr lang="en-US" sz="24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𝑎𝑟𝑐</m:t>
                        </m:r>
                      </m:sub>
                    </m:sSub>
                    <m:r>
                      <a:rPr lang="en-US" sz="2400" b="0" i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 sz="2400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ru-RU" sz="2400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endParaRPr lang="ru-RU" sz="2400" dirty="0">
                  <a:solidFill>
                    <a:srgbClr val="01189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7" name="コンテンツ プレースホルダー 1">
                <a:extLst>
                  <a:ext uri="{FF2B5EF4-FFF2-40B4-BE49-F238E27FC236}">
                    <a16:creationId xmlns:a16="http://schemas.microsoft.com/office/drawing/2014/main" id="{E6BD45A9-E339-BA46-B1AF-2C2980FE1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085" y="2246680"/>
                <a:ext cx="4829989" cy="8319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コンテンツ プレースホルダー 1">
            <a:extLst>
              <a:ext uri="{FF2B5EF4-FFF2-40B4-BE49-F238E27FC236}">
                <a16:creationId xmlns:a16="http://schemas.microsoft.com/office/drawing/2014/main" id="{EF313188-6AFF-F646-ADD5-5D94F77A3939}"/>
              </a:ext>
            </a:extLst>
          </p:cNvPr>
          <p:cNvSpPr txBox="1"/>
          <p:nvPr/>
        </p:nvSpPr>
        <p:spPr>
          <a:xfrm>
            <a:off x="574106" y="1301746"/>
            <a:ext cx="11043787" cy="986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Частота бетатронных колебаний принимается нечетными числом (количество суперпериодов чётно). Набег фазы на суперпериоде</a:t>
            </a:r>
            <a:r>
              <a:rPr lang="en-US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половине суперпериода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ru-RU" sz="2400" dirty="0">
              <a:solidFill>
                <a:srgbClr val="01189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コンテンツ プレースホルダー 1">
            <a:extLst>
              <a:ext uri="{FF2B5EF4-FFF2-40B4-BE49-F238E27FC236}">
                <a16:creationId xmlns:a16="http://schemas.microsoft.com/office/drawing/2014/main" id="{EE0426E4-6949-D747-BC97-D8A7C2542A83}"/>
              </a:ext>
            </a:extLst>
          </p:cNvPr>
          <p:cNvSpPr txBox="1"/>
          <p:nvPr/>
        </p:nvSpPr>
        <p:spPr>
          <a:xfrm>
            <a:off x="574106" y="2288493"/>
            <a:ext cx="7411419" cy="510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ru-RU" sz="2400" dirty="0">
              <a:solidFill>
                <a:srgbClr val="01189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コンテンツ プレースホルダー 1">
            <a:extLst>
              <a:ext uri="{FF2B5EF4-FFF2-40B4-BE49-F238E27FC236}">
                <a16:creationId xmlns:a16="http://schemas.microsoft.com/office/drawing/2014/main" id="{CC82A5F8-0FF9-F443-A1F0-19C29745AEE1}"/>
              </a:ext>
            </a:extLst>
          </p:cNvPr>
          <p:cNvSpPr txBox="1"/>
          <p:nvPr/>
        </p:nvSpPr>
        <p:spPr>
          <a:xfrm>
            <a:off x="527497" y="2963488"/>
            <a:ext cx="11137004" cy="510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fontScale="92500"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Таким образом, возможна взаимная компенсация секступольных нелинейных эффектов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74CF30-BC05-DF4B-8430-E9DA0EE1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711" y="3473645"/>
            <a:ext cx="6117102" cy="266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1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Контролируемая структура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13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13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B86C0C3-31FC-0D46-8CA6-7466F66C8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9" name="コンテンツ プレースホルダー 1">
            <a:extLst>
              <a:ext uri="{FF2B5EF4-FFF2-40B4-BE49-F238E27FC236}">
                <a16:creationId xmlns:a16="http://schemas.microsoft.com/office/drawing/2014/main" id="{EE0426E4-6949-D747-BC97-D8A7C2542A83}"/>
              </a:ext>
            </a:extLst>
          </p:cNvPr>
          <p:cNvSpPr txBox="1"/>
          <p:nvPr/>
        </p:nvSpPr>
        <p:spPr>
          <a:xfrm>
            <a:off x="574106" y="2288493"/>
            <a:ext cx="7411419" cy="510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ru-RU" sz="2400" dirty="0">
              <a:solidFill>
                <a:srgbClr val="01189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F019CE2-EFBA-5846-9DBA-F465415BB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062" y="2798650"/>
            <a:ext cx="4074738" cy="334939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B29D04A-592D-CC4F-887F-55EBFFFF2A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883" y="1236001"/>
            <a:ext cx="4601307" cy="14588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コンテンツ プレースホルダー 1">
                <a:extLst>
                  <a:ext uri="{FF2B5EF4-FFF2-40B4-BE49-F238E27FC236}">
                    <a16:creationId xmlns:a16="http://schemas.microsoft.com/office/drawing/2014/main" id="{537BEC89-5326-EE4F-AC85-18F02F070AD5}"/>
                  </a:ext>
                </a:extLst>
              </p:cNvPr>
              <p:cNvSpPr txBox="1"/>
              <p:nvPr/>
            </p:nvSpPr>
            <p:spPr>
              <a:xfrm>
                <a:off x="30625" y="1540744"/>
                <a:ext cx="6426025" cy="439880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normAutofit/>
              </a:bodyPr>
              <a:lstStyle/>
              <a:p>
                <a:pPr lvl="1">
                  <a:lnSpc>
                    <a:spcPct val="110000"/>
                  </a:lnSpc>
                  <a:spcBef>
                    <a:spcPts val="500"/>
                  </a:spcBef>
                  <a:buSzPct val="100000"/>
                  <a:defRPr sz="25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QF1 – </a:t>
                </a: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расположен в точке максимальной дисперсии и обеспечивает её вариацию, изменяет критическую энергию</a:t>
                </a: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b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b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QF2 – </a:t>
                </a: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расположен в точках максимума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функции</a:t>
                </a: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и обеспечивает выбор частоты горизонтальных колебаний</a:t>
                </a: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b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b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QD – </a:t>
                </a:r>
                <a:r>
                  <a:rPr lang="ru-RU" sz="2400" dirty="0">
                    <a:solidFill>
                      <a:srgbClr val="01189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настраивает вертикальную частоту колебаний.</a:t>
                </a:r>
              </a:p>
            </p:txBody>
          </p:sp>
        </mc:Choice>
        <mc:Fallback>
          <p:sp>
            <p:nvSpPr>
              <p:cNvPr id="17" name="コンテンツ プレースホルダー 1">
                <a:extLst>
                  <a:ext uri="{FF2B5EF4-FFF2-40B4-BE49-F238E27FC236}">
                    <a16:creationId xmlns:a16="http://schemas.microsoft.com/office/drawing/2014/main" id="{537BEC89-5326-EE4F-AC85-18F02F070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5" y="1540744"/>
                <a:ext cx="6426025" cy="4398807"/>
              </a:xfrm>
              <a:prstGeom prst="rect">
                <a:avLst/>
              </a:prstGeom>
              <a:blipFill>
                <a:blip r:embed="rId4"/>
                <a:stretch>
                  <a:fillRect t="-57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70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1712E-658B-B54B-A8D7-CDA38508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36"/>
            <a:ext cx="10515600" cy="886900"/>
          </a:xfrm>
        </p:spPr>
        <p:txBody>
          <a:bodyPr anchor="ctr">
            <a:normAutofit/>
          </a:bodyPr>
          <a:lstStyle/>
          <a:p>
            <a:pPr algn="ctr"/>
            <a:r>
              <a:rPr lang="ru-RU" b="1" dirty="0">
                <a:solidFill>
                  <a:srgbClr val="0823A1"/>
                </a:solidFill>
              </a:rPr>
              <a:t>Коррекция хроматичности</a:t>
            </a:r>
          </a:p>
        </p:txBody>
      </p:sp>
      <p:sp>
        <p:nvSpPr>
          <p:cNvPr id="4" name="正方形/長方形 43">
            <a:extLst>
              <a:ext uri="{FF2B5EF4-FFF2-40B4-BE49-F238E27FC236}">
                <a16:creationId xmlns:a16="http://schemas.microsoft.com/office/drawing/2014/main" id="{6FF04295-6006-BD47-9C11-E94F2E6928CA}"/>
              </a:ext>
            </a:extLst>
          </p:cNvPr>
          <p:cNvSpPr/>
          <p:nvPr/>
        </p:nvSpPr>
        <p:spPr>
          <a:xfrm>
            <a:off x="-25225" y="6387255"/>
            <a:ext cx="12242450" cy="510157"/>
          </a:xfrm>
          <a:prstGeom prst="rect">
            <a:avLst/>
          </a:prstGeom>
          <a:solidFill>
            <a:srgbClr val="00199C">
              <a:alpha val="9607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solidFill>
                <a:sysClr val="windowText" lastClr="000000"/>
              </a:solidFill>
              <a:highlight>
                <a:srgbClr val="000000"/>
              </a:highlight>
            </a:endParaRPr>
          </a:p>
        </p:txBody>
      </p:sp>
      <p:sp>
        <p:nvSpPr>
          <p:cNvPr id="5" name="スライド番号プレースホルダー 16">
            <a:extLst>
              <a:ext uri="{FF2B5EF4-FFF2-40B4-BE49-F238E27FC236}">
                <a16:creationId xmlns:a16="http://schemas.microsoft.com/office/drawing/2014/main" id="{00E62466-2CA4-6946-8DBE-9D87A116D6F3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latin typeface="+mn-lt"/>
              </a:rPr>
              <a:pPr/>
              <a:t>14</a:t>
            </a:fld>
            <a:endParaRPr lang="ru-RU" dirty="0">
              <a:latin typeface="+mn-lt"/>
            </a:endParaRPr>
          </a:p>
        </p:txBody>
      </p:sp>
      <p:sp>
        <p:nvSpPr>
          <p:cNvPr id="6" name="スライド番号プレースホルダー 16">
            <a:extLst>
              <a:ext uri="{FF2B5EF4-FFF2-40B4-BE49-F238E27FC236}">
                <a16:creationId xmlns:a16="http://schemas.microsoft.com/office/drawing/2014/main" id="{EFC8B5D7-4A37-A549-A4C7-9C03462D1369}"/>
              </a:ext>
            </a:extLst>
          </p:cNvPr>
          <p:cNvSpPr txBox="1">
            <a:spLocks/>
          </p:cNvSpPr>
          <p:nvPr/>
        </p:nvSpPr>
        <p:spPr>
          <a:xfrm>
            <a:off x="11711109" y="6503835"/>
            <a:ext cx="1708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E5B542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游ゴシック"/>
              </a:defRPr>
            </a:lvl9pPr>
          </a:lstStyle>
          <a:p>
            <a:fld id="{86CB4B4D-7CA3-9044-876B-883B54F8677D}" type="slidenum">
              <a:rPr lang="ru-RU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pPr/>
              <a:t>14</a:t>
            </a:fld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47F3FE2-5A54-5D42-A179-79035C15B82B}"/>
              </a:ext>
            </a:extLst>
          </p:cNvPr>
          <p:cNvCxnSpPr/>
          <p:nvPr/>
        </p:nvCxnSpPr>
        <p:spPr>
          <a:xfrm>
            <a:off x="-25225" y="1093039"/>
            <a:ext cx="12217225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付プレースホルダー 14">
            <a:extLst>
              <a:ext uri="{FF2B5EF4-FFF2-40B4-BE49-F238E27FC236}">
                <a16:creationId xmlns:a16="http://schemas.microsoft.com/office/drawing/2014/main" id="{322F81C0-06B0-BE40-A1AD-C40E543D5F9E}"/>
              </a:ext>
            </a:extLst>
          </p:cNvPr>
          <p:cNvSpPr txBox="1"/>
          <p:nvPr/>
        </p:nvSpPr>
        <p:spPr>
          <a:xfrm>
            <a:off x="310013" y="6503833"/>
            <a:ext cx="96008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>
                <a:solidFill>
                  <a:srgbClr val="E5B4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06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0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9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/20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21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B86C0C3-31FC-0D46-8CA6-7466F66C8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9" name="コンテンツ プレースホルダー 1">
            <a:extLst>
              <a:ext uri="{FF2B5EF4-FFF2-40B4-BE49-F238E27FC236}">
                <a16:creationId xmlns:a16="http://schemas.microsoft.com/office/drawing/2014/main" id="{EE0426E4-6949-D747-BC97-D8A7C2542A83}"/>
              </a:ext>
            </a:extLst>
          </p:cNvPr>
          <p:cNvSpPr txBox="1"/>
          <p:nvPr/>
        </p:nvSpPr>
        <p:spPr>
          <a:xfrm>
            <a:off x="574106" y="2288493"/>
            <a:ext cx="7411419" cy="510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ru-RU" sz="2400" dirty="0">
              <a:solidFill>
                <a:srgbClr val="01189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コンテンツ プレースホルダー 1">
            <a:extLst>
              <a:ext uri="{FF2B5EF4-FFF2-40B4-BE49-F238E27FC236}">
                <a16:creationId xmlns:a16="http://schemas.microsoft.com/office/drawing/2014/main" id="{537BEC89-5326-EE4F-AC85-18F02F070AD5}"/>
              </a:ext>
            </a:extLst>
          </p:cNvPr>
          <p:cNvSpPr txBox="1"/>
          <p:nvPr/>
        </p:nvSpPr>
        <p:spPr>
          <a:xfrm>
            <a:off x="574106" y="1448972"/>
            <a:ext cx="11307881" cy="9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Естественная хроматичность возникает из-за того, что сила фокусировки квадруполей зависит от импульса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79E387-0FCA-9F46-A5CC-180ABC83A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75" y="2397382"/>
            <a:ext cx="2910449" cy="84211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8C25FE3-4E44-7E4D-BCF5-AAF1813BF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599" y="3974131"/>
            <a:ext cx="3860800" cy="723900"/>
          </a:xfrm>
          <a:prstGeom prst="rect">
            <a:avLst/>
          </a:prstGeom>
        </p:spPr>
      </p:pic>
      <p:sp>
        <p:nvSpPr>
          <p:cNvPr id="18" name="コンテンツ プレースホルダー 1">
            <a:extLst>
              <a:ext uri="{FF2B5EF4-FFF2-40B4-BE49-F238E27FC236}">
                <a16:creationId xmlns:a16="http://schemas.microsoft.com/office/drawing/2014/main" id="{C6B76335-4416-3346-9BD8-293B069D7612}"/>
              </a:ext>
            </a:extLst>
          </p:cNvPr>
          <p:cNvSpPr txBox="1"/>
          <p:nvPr/>
        </p:nvSpPr>
        <p:spPr>
          <a:xfrm>
            <a:off x="574105" y="3265942"/>
            <a:ext cx="11307881" cy="510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 её коррекции используются секступоли фокусирующие и </a:t>
            </a:r>
            <a:r>
              <a:rPr lang="ru-RU" sz="2400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дефокусирующие</a:t>
            </a:r>
            <a:endParaRPr lang="ru-RU" sz="2400" dirty="0">
              <a:solidFill>
                <a:srgbClr val="01189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コンテンツ プレースホルダー 1">
            <a:extLst>
              <a:ext uri="{FF2B5EF4-FFF2-40B4-BE49-F238E27FC236}">
                <a16:creationId xmlns:a16="http://schemas.microsoft.com/office/drawing/2014/main" id="{3C25C918-5768-CB48-9DE2-F694A87866E7}"/>
              </a:ext>
            </a:extLst>
          </p:cNvPr>
          <p:cNvSpPr txBox="1"/>
          <p:nvPr/>
        </p:nvSpPr>
        <p:spPr>
          <a:xfrm>
            <a:off x="574104" y="4971552"/>
            <a:ext cx="11307881" cy="895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1">
              <a:lnSpc>
                <a:spcPct val="110000"/>
              </a:lnSpc>
              <a:spcBef>
                <a:spcPts val="500"/>
              </a:spcBef>
              <a:buSzPct val="100000"/>
              <a:defRPr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24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Секступоли вносят значительный вклад в нелинейное движение и тем самым определяют динамическую апертуру ускорителя. </a:t>
            </a:r>
          </a:p>
        </p:txBody>
      </p:sp>
    </p:spTree>
    <p:extLst>
      <p:ext uri="{BB962C8B-B14F-4D97-AF65-F5344CB8AC3E}">
        <p14:creationId xmlns:p14="http://schemas.microsoft.com/office/powerpoint/2010/main" val="18979076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2970</TotalTime>
  <Words>589</Words>
  <Application>Microsoft Macintosh PowerPoint</Application>
  <PresentationFormat>Широкоэкранный</PresentationFormat>
  <Paragraphs>98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Тема Office</vt:lpstr>
      <vt:lpstr>Equation.3</vt:lpstr>
      <vt:lpstr>Экзамен в аспирантуру. Прохождение критической энергии</vt:lpstr>
      <vt:lpstr>Содержание</vt:lpstr>
      <vt:lpstr>Критическая энергия</vt:lpstr>
      <vt:lpstr>Slip-factor</vt:lpstr>
      <vt:lpstr>Неадиабатичность</vt:lpstr>
      <vt:lpstr>Эффект пространственного заряда (SC)</vt:lpstr>
      <vt:lpstr>Учет импедансов</vt:lpstr>
      <vt:lpstr>Прохождение через критическую энегию</vt:lpstr>
      <vt:lpstr>Прохождение через критическую энегию</vt:lpstr>
      <vt:lpstr>Повышение критической энергии</vt:lpstr>
      <vt:lpstr>Модуляция градиентов и кривизны</vt:lpstr>
      <vt:lpstr>Набег фазы</vt:lpstr>
      <vt:lpstr>Контролируемая структура</vt:lpstr>
      <vt:lpstr>Коррекция хроматичности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Экзамен в аспирантуру. Прохождение критической энергии</dc:title>
  <dc:creator>Microsoft Office User</dc:creator>
  <cp:lastModifiedBy>Microsoft Office User</cp:lastModifiedBy>
  <cp:revision>9</cp:revision>
  <dcterms:created xsi:type="dcterms:W3CDTF">2021-09-04T09:18:50Z</dcterms:created>
  <dcterms:modified xsi:type="dcterms:W3CDTF">2021-09-06T10:49:27Z</dcterms:modified>
</cp:coreProperties>
</file>